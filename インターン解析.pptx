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51" autoAdjust="0"/>
    <p:restoredTop sz="94660"/>
  </p:normalViewPr>
  <p:slideViewPr>
    <p:cSldViewPr snapToGrid="0">
      <p:cViewPr varScale="1">
        <p:scale>
          <a:sx n="31" d="100"/>
          <a:sy n="31" d="100"/>
        </p:scale>
        <p:origin x="36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54BD51-E13F-0BA1-F2D0-F88F1D2790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7AEBB64-04D7-FF15-D4D7-13A51A60E6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C70644-1A86-8CC6-F668-C3747240A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C7E5E-EF53-4DF0-A140-C62E3D1CA2F4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D61286-6B5F-46A2-B7CA-869C9E604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7A2DC1F-CD95-8C1E-2B2B-DD2FEF9A5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04B3-5F21-4838-ACB1-CD0DF22472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1350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4696CC-872E-7668-DD09-761BF4735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485C7A-B585-10CD-3525-3A1C8CD36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DB72A9-D38B-4E54-376B-4314C7761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C7E5E-EF53-4DF0-A140-C62E3D1CA2F4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0C9E685-8E7E-6DDD-4382-F8279E395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8579D6-E671-7EE5-9D80-6F1F29AF9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04B3-5F21-4838-ACB1-CD0DF22472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3366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C0E72D-77E4-F815-F900-AA08AA858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1539D4E-67EB-40BD-9497-3D300FE1E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85DA67-C784-F636-54FE-3262B9C46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C7E5E-EF53-4DF0-A140-C62E3D1CA2F4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EF1472-5E16-23F1-C2AD-C9BF38959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98D7A4-BFFC-12BA-A55F-75A040002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04B3-5F21-4838-ACB1-CD0DF22472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8433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E45C7E-6653-E624-BBD8-59D7FEAFC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3F7847-CA60-F628-8854-2BCCA6FC25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809F39A-3CB8-EFC3-F38C-8CDD75AB1E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9F0236E-5B34-E409-CED8-6ED9057D1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C7E5E-EF53-4DF0-A140-C62E3D1CA2F4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7FF5C50-3669-AE89-ACCC-5E3F40CD6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F986CFF-4B7E-8D9D-8F3B-FA1C6EC56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04B3-5F21-4838-ACB1-CD0DF22472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757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AA514A-15DA-5389-F8A5-2F0252271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92F0C25-6C52-D717-7254-DA527D492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D96219B-50AC-4451-ABE1-82B5A881D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2D3B03E-5FE3-E053-E8AC-28FE65DF82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86908F7-A9FF-542F-100E-9C4C38A11E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E82C817-4EC5-EFA4-7BFA-031A23D26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C7E5E-EF53-4DF0-A140-C62E3D1CA2F4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0D44111-7C5A-879F-1B49-78C1DE73C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81D17CD-0A63-8B00-BA84-CB3785ED1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04B3-5F21-4838-ACB1-CD0DF22472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8434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C7BA46-6D33-8F00-9EDC-C69A9EEE2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1013A04-73D5-0921-5E3B-84591C001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C7E5E-EF53-4DF0-A140-C62E3D1CA2F4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42EFF2B-C80D-42C4-648F-07335FE03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E44A696-EAB0-96C4-2786-17ECAC9CC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04B3-5F21-4838-ACB1-CD0DF22472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0778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C42B4C0-F6B8-DFB8-FB26-3C7D9F019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C7E5E-EF53-4DF0-A140-C62E3D1CA2F4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8F5A841-6094-8A40-2D82-BECB06CA8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1DC7EB8-2BA0-20F0-CFD0-255B2374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04B3-5F21-4838-ACB1-CD0DF22472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7054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846683-B7A9-9476-7D79-15952B43F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4EE9A9D-3005-A456-CC96-67756B88F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FEE29C5-360E-06D4-79BB-CBB3EE89DF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07E6162-EEC7-6BB1-FD51-A79F2F31F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C7E5E-EF53-4DF0-A140-C62E3D1CA2F4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DBA2E18-E45B-E79D-FD9D-35C4BAD75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F6B2A6A-F995-F7D5-6891-1C8ACB8B6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04B3-5F21-4838-ACB1-CD0DF22472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9808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74F138-C37B-EE92-B934-466854F9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987C344-DC5F-03EF-EA9A-F63AFC595A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D3791A7-92A9-5FD8-3888-5432BC327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D588FC4-1117-5C24-E72D-9A7DCF8D0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C7E5E-EF53-4DF0-A140-C62E3D1CA2F4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769085F-822A-352A-EE5C-93A5C38B8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F0E8C5E-F0B3-9C52-D6E8-246971567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04B3-5F21-4838-ACB1-CD0DF22472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7640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A70B9E-E4AD-1458-E788-809607A41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96A631F-6B02-5C71-0DA7-6364E0C52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D8D2AF-0F69-1A60-01CB-ABEAB3672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C7E5E-EF53-4DF0-A140-C62E3D1CA2F4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CC4B41-547E-AF74-E9D2-92F843AD3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7D1404-0FF1-3723-9C6F-DBDAAE8E5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04B3-5F21-4838-ACB1-CD0DF22472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2977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5B57F93-0B97-6D3A-1B03-52124FC7E1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13A4953-E7CA-2AF8-A8F6-4E4C71E2E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2F51BF-41A5-154A-E4CB-857910FB7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C7E5E-EF53-4DF0-A140-C62E3D1CA2F4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32813B-1179-8415-9991-66A438982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17428A-B3F8-992E-1D73-563F84CE0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304B3-5F21-4838-ACB1-CD0DF22472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6628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5E78BAC-E636-EE79-9759-73D1EB728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EDF137D-D350-2184-AA37-9C6C162F31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CCD19F-9FC0-53B1-2E1A-CE276AA55D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1C7E5E-EF53-4DF0-A140-C62E3D1CA2F4}" type="datetimeFigureOut">
              <a:rPr kumimoji="1" lang="ja-JP" altLang="en-US" smtClean="0"/>
              <a:t>2026/4/28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6841B0-2788-D3B6-17D9-2ED0D8373E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959DB3-2DD5-AA79-6625-312A0C00B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6304B3-5F21-4838-ACB1-CD0DF22472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5340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D9B56C-EAC8-824F-8319-03636B954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32329"/>
            <a:ext cx="9144000" cy="1655762"/>
          </a:xfrm>
        </p:spPr>
        <p:txBody>
          <a:bodyPr>
            <a:normAutofit fontScale="90000"/>
          </a:bodyPr>
          <a:lstStyle/>
          <a:p>
            <a:r>
              <a:rPr lang="ja-JP" altLang="en-US" b="1" dirty="0"/>
              <a:t>変圧器オイル温度予測 </a:t>
            </a:r>
            <a:r>
              <a:rPr lang="en-US" altLang="ja-JP" b="1" dirty="0"/>
              <a:t>PoC</a:t>
            </a:r>
            <a:r>
              <a:rPr lang="ja-JP" altLang="en-US" b="1" dirty="0"/>
              <a:t>（技術検証）報告書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A8F7A6B-F39F-C8C2-9B79-97602A7AB2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73028" y="5416891"/>
            <a:ext cx="1494972" cy="724466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崗崎智大</a:t>
            </a:r>
          </a:p>
        </p:txBody>
      </p:sp>
    </p:spTree>
    <p:extLst>
      <p:ext uri="{BB962C8B-B14F-4D97-AF65-F5344CB8AC3E}">
        <p14:creationId xmlns:p14="http://schemas.microsoft.com/office/powerpoint/2010/main" val="1491491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1231FD-6017-B3BA-D7EA-845E38C8D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915" y="0"/>
            <a:ext cx="10515600" cy="1325563"/>
          </a:xfrm>
        </p:spPr>
        <p:txBody>
          <a:bodyPr/>
          <a:lstStyle/>
          <a:p>
            <a:r>
              <a:rPr lang="ja-JP" altLang="en-US" b="1" dirty="0"/>
              <a:t>データからの示唆（</a:t>
            </a:r>
            <a:r>
              <a:rPr lang="en-US" altLang="ja-JP" b="1" dirty="0"/>
              <a:t>EDA</a:t>
            </a:r>
            <a:r>
              <a:rPr lang="ja-JP" altLang="en-US" b="1" dirty="0"/>
              <a:t>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A320217-E446-C05C-840A-730DBC675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1600" y="1898197"/>
            <a:ext cx="4586514" cy="3980090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ja-JP" altLang="en-US" b="1" dirty="0"/>
              <a:t>特徴</a:t>
            </a:r>
            <a:r>
              <a:rPr lang="en-US" altLang="ja-JP" b="1" dirty="0"/>
              <a:t>1: 24</a:t>
            </a:r>
            <a:r>
              <a:rPr lang="ja-JP" altLang="en-US" b="1" dirty="0"/>
              <a:t>時間の周期性</a:t>
            </a:r>
            <a:endParaRPr lang="ja-JP" altLang="en-US" dirty="0"/>
          </a:p>
          <a:p>
            <a:pPr marL="0" indent="0" fontAlgn="base">
              <a:buNone/>
            </a:pPr>
            <a:r>
              <a:rPr lang="ja-JP" altLang="en-US" dirty="0"/>
              <a:t>日中の稼働や外気温の変化により、オイル温度が毎日規則的に上下する波形が確認されました。</a:t>
            </a:r>
          </a:p>
          <a:p>
            <a:pPr fontAlgn="base"/>
            <a:r>
              <a:rPr lang="ja-JP" altLang="en-US" b="1" dirty="0"/>
              <a:t>特徴</a:t>
            </a:r>
            <a:r>
              <a:rPr lang="en-US" altLang="ja-JP" b="1" dirty="0"/>
              <a:t>2: </a:t>
            </a:r>
            <a:r>
              <a:rPr lang="ja-JP" altLang="en-US" b="1" dirty="0"/>
              <a:t>電力負荷との強い相関</a:t>
            </a:r>
            <a:endParaRPr lang="ja-JP" altLang="en-US" dirty="0"/>
          </a:p>
          <a:p>
            <a:pPr marL="0" indent="0" fontAlgn="base">
              <a:buNone/>
            </a:pPr>
            <a:r>
              <a:rPr lang="en-US" altLang="ja-JP" dirty="0"/>
              <a:t>OT</a:t>
            </a:r>
            <a:r>
              <a:rPr lang="ja-JP" altLang="en-US" dirty="0"/>
              <a:t>は、</a:t>
            </a:r>
            <a:r>
              <a:rPr lang="en-US" altLang="ja-JP" dirty="0"/>
              <a:t>HUFL</a:t>
            </a:r>
            <a:r>
              <a:rPr lang="ja-JP" altLang="en-US" dirty="0"/>
              <a:t>（</a:t>
            </a:r>
            <a:r>
              <a:rPr lang="en-US" altLang="ja-JP" dirty="0"/>
              <a:t>High Useful Load</a:t>
            </a:r>
            <a:r>
              <a:rPr lang="ja-JP" altLang="en-US" dirty="0"/>
              <a:t>）等と相関係数約</a:t>
            </a:r>
            <a:r>
              <a:rPr lang="en-US" altLang="ja-JP" dirty="0"/>
              <a:t>0.88</a:t>
            </a:r>
            <a:r>
              <a:rPr lang="ja-JP" altLang="en-US" dirty="0"/>
              <a:t>の強い正の相関を示しました。</a:t>
            </a:r>
          </a:p>
          <a:p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95FF255-72CA-1427-4D9A-0DD81A459A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2996"/>
            <a:ext cx="7721600" cy="473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508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5533D4-A03B-B488-859D-D688F436F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dirty="0"/>
              <a:t>アプローチとモデル構築設計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8D40FA-CFA5-1B10-2E31-159F5A887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43" y="1985282"/>
            <a:ext cx="4996543" cy="4351338"/>
          </a:xfrm>
        </p:spPr>
        <p:txBody>
          <a:bodyPr>
            <a:normAutofit fontScale="92500" lnSpcReduction="10000"/>
          </a:bodyPr>
          <a:lstStyle/>
          <a:p>
            <a:pPr marL="0" indent="0" algn="ctr" fontAlgn="base">
              <a:buNone/>
            </a:pPr>
            <a:r>
              <a:rPr lang="ja-JP" altLang="en-US" sz="4000" b="1" dirty="0"/>
              <a:t>モデル選定</a:t>
            </a:r>
            <a:endParaRPr lang="ja-JP" altLang="en-US" sz="4000" dirty="0"/>
          </a:p>
          <a:p>
            <a:pPr fontAlgn="base"/>
            <a:r>
              <a:rPr lang="en-US" altLang="ja-JP" sz="3600" dirty="0"/>
              <a:t>Naive : </a:t>
            </a:r>
            <a:r>
              <a:rPr lang="ja-JP" altLang="en-US" sz="3600" dirty="0"/>
              <a:t>「</a:t>
            </a:r>
            <a:r>
              <a:rPr lang="en-US" altLang="ja-JP" sz="3600" dirty="0"/>
              <a:t>1</a:t>
            </a:r>
            <a:r>
              <a:rPr lang="ja-JP" altLang="en-US" sz="3600" dirty="0"/>
              <a:t>時間前と同じ温度になる」とする単純ルール</a:t>
            </a:r>
          </a:p>
          <a:p>
            <a:pPr fontAlgn="base"/>
            <a:r>
              <a:rPr lang="en-US" altLang="ja-JP" sz="3600" dirty="0"/>
              <a:t>Ridge Regression: </a:t>
            </a:r>
            <a:r>
              <a:rPr lang="ja-JP" altLang="en-US" sz="3600" dirty="0"/>
              <a:t>線形回帰ベースのアプローチ</a:t>
            </a:r>
          </a:p>
          <a:p>
            <a:pPr fontAlgn="base"/>
            <a:r>
              <a:rPr lang="en-US" altLang="ja-JP" sz="3600" dirty="0" err="1"/>
              <a:t>LightGBM</a:t>
            </a:r>
            <a:r>
              <a:rPr lang="en-US" altLang="ja-JP" sz="3600" dirty="0"/>
              <a:t>: </a:t>
            </a:r>
            <a:r>
              <a:rPr lang="ja-JP" altLang="en-US" sz="3600" dirty="0"/>
              <a:t>決定木ベース</a:t>
            </a:r>
            <a:endParaRPr kumimoji="1" lang="ja-JP" altLang="en-US" sz="36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1199D42-85A5-51AE-E03F-7420B4D58784}"/>
              </a:ext>
            </a:extLst>
          </p:cNvPr>
          <p:cNvSpPr txBox="1"/>
          <p:nvPr/>
        </p:nvSpPr>
        <p:spPr>
          <a:xfrm>
            <a:off x="5863771" y="1985282"/>
            <a:ext cx="5994399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base"/>
            <a:r>
              <a:rPr lang="ja-JP" altLang="en-US" sz="37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スライディングウィンドウ設計</a:t>
            </a:r>
            <a:endParaRPr lang="ja-JP" altLang="en-US" sz="37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304800" rtl="0" fontAlgn="base">
              <a:buFont typeface="Arial" panose="020B0604020202020204" pitchFamily="34" charset="0"/>
              <a:buChar char="•"/>
            </a:pPr>
            <a:r>
              <a:rPr lang="ja-JP" altLang="en-US" sz="33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入力（</a:t>
            </a:r>
            <a:r>
              <a:rPr lang="en-US" altLang="ja-JP" sz="33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X</a:t>
            </a:r>
            <a:r>
              <a:rPr lang="ja-JP" altLang="en-US" sz="33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）</a:t>
            </a:r>
            <a:r>
              <a:rPr lang="en-US" altLang="ja-JP" sz="33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ja-JP" altLang="en-US" sz="33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過去</a:t>
            </a:r>
            <a:r>
              <a:rPr lang="en-US" altLang="ja-JP" sz="33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24</a:t>
            </a:r>
            <a:r>
              <a:rPr lang="ja-JP" altLang="en-US" sz="33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時間分の全データ</a:t>
            </a:r>
            <a:endParaRPr lang="en-US" altLang="ja-JP" sz="33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304800" rtl="0" fontAlgn="base">
              <a:buFont typeface="Arial" panose="020B0604020202020204" pitchFamily="34" charset="0"/>
              <a:buChar char="•"/>
            </a:pPr>
            <a:r>
              <a:rPr lang="ja-JP" altLang="en-US" sz="33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出力（</a:t>
            </a:r>
            <a:r>
              <a:rPr lang="en-US" altLang="ja-JP" sz="33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</a:t>
            </a:r>
            <a:r>
              <a:rPr lang="ja-JP" altLang="en-US" sz="33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）</a:t>
            </a:r>
            <a:r>
              <a:rPr lang="en-US" altLang="ja-JP" sz="33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3</a:t>
            </a:r>
            <a:r>
              <a:rPr lang="ja-JP" altLang="en-US" sz="33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時間後</a:t>
            </a:r>
            <a:r>
              <a:rPr lang="ja-JP" altLang="en-US" sz="33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の温度（</a:t>
            </a:r>
            <a:r>
              <a:rPr lang="en-US" altLang="ja-JP" sz="33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OT</a:t>
            </a:r>
            <a:r>
              <a:rPr lang="ja-JP" altLang="en-US" sz="33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795952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4BB269-0FE8-C06A-0EAD-E245F223B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6000" dirty="0"/>
              <a:t>タスク設計の意思決定</a:t>
            </a:r>
            <a:endParaRPr kumimoji="1" lang="ja-JP" altLang="en-US" sz="60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F3A220-1650-CB24-D844-6844D19C3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5400" dirty="0"/>
              <a:t>現場の運用要件と</a:t>
            </a:r>
            <a:r>
              <a:rPr lang="en-US" altLang="ja-JP" sz="5400" dirty="0"/>
              <a:t>AI</a:t>
            </a:r>
            <a:r>
              <a:rPr lang="ja-JP" altLang="en-US" sz="5400" dirty="0"/>
              <a:t>の予測限界を検証し、実運用が成立するギリギリのラインである「</a:t>
            </a:r>
            <a:r>
              <a:rPr lang="en-US" altLang="ja-JP" sz="5400" dirty="0">
                <a:solidFill>
                  <a:srgbClr val="FF0000"/>
                </a:solidFill>
              </a:rPr>
              <a:t>3</a:t>
            </a:r>
            <a:r>
              <a:rPr lang="ja-JP" altLang="en-US" sz="5400" dirty="0">
                <a:solidFill>
                  <a:srgbClr val="FF0000"/>
                </a:solidFill>
              </a:rPr>
              <a:t>時間先</a:t>
            </a:r>
            <a:r>
              <a:rPr lang="ja-JP" altLang="en-US" sz="5400" dirty="0"/>
              <a:t>予測」を本プロジェクトの最適解として選定しました。</a:t>
            </a:r>
            <a:endParaRPr kumimoji="1" lang="ja-JP" altLang="en-US" sz="5400" dirty="0"/>
          </a:p>
        </p:txBody>
      </p:sp>
    </p:spTree>
    <p:extLst>
      <p:ext uri="{BB962C8B-B14F-4D97-AF65-F5344CB8AC3E}">
        <p14:creationId xmlns:p14="http://schemas.microsoft.com/office/powerpoint/2010/main" val="1368390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8614D7-CC6C-CB46-3EB2-F95137D55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安全志向</a:t>
            </a:r>
            <a:r>
              <a:rPr lang="en-US" altLang="ja-JP" dirty="0"/>
              <a:t>AI</a:t>
            </a:r>
            <a:r>
              <a:rPr lang="ja-JP" altLang="en-US" dirty="0"/>
              <a:t>の開発とマージン最適化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F38564A-4900-4EFE-4AA9-2B345AE51496}"/>
              </a:ext>
            </a:extLst>
          </p:cNvPr>
          <p:cNvSpPr txBox="1"/>
          <p:nvPr/>
        </p:nvSpPr>
        <p:spPr>
          <a:xfrm>
            <a:off x="7765666" y="1690688"/>
            <a:ext cx="395331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4800" dirty="0"/>
              <a:t>5.4℃</a:t>
            </a:r>
            <a:r>
              <a:rPr lang="ja-JP" altLang="en-US" sz="4800" dirty="0"/>
              <a:t>のマージンにより、現場の故障ゼロを満たすシステムを実現しました。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078B4BD7-6C02-5C67-5A81-C12387076E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E8D55F5-AF9E-031C-0310-25F657CEDA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26" y="1437124"/>
            <a:ext cx="7677640" cy="477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767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C3E34D-B49B-7A01-B7CD-2895A354E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最終結論とネクストステップ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5F46F49-39A9-C845-5F99-04AB54541AD0}"/>
              </a:ext>
            </a:extLst>
          </p:cNvPr>
          <p:cNvSpPr txBox="1"/>
          <p:nvPr/>
        </p:nvSpPr>
        <p:spPr>
          <a:xfrm>
            <a:off x="943428" y="2329762"/>
            <a:ext cx="1065348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/>
              <a:t>現場の運用リスクとコストを最適化した実践的な</a:t>
            </a:r>
            <a:r>
              <a:rPr lang="en-US" altLang="ja-JP" sz="4000" dirty="0"/>
              <a:t>3</a:t>
            </a:r>
            <a:r>
              <a:rPr lang="ja-JP" altLang="en-US" sz="4000" dirty="0"/>
              <a:t>時間先の予防保全モデルを作成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FADC49D-6CED-79FA-565D-CA4C71148CAF}"/>
              </a:ext>
            </a:extLst>
          </p:cNvPr>
          <p:cNvSpPr txBox="1"/>
          <p:nvPr/>
        </p:nvSpPr>
        <p:spPr>
          <a:xfrm>
            <a:off x="838200" y="4756732"/>
            <a:ext cx="108603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dirty="0"/>
              <a:t>将来的なさらなる精度向上のため、外部データ（気象予報データ等）の結合検証の実施</a:t>
            </a:r>
          </a:p>
        </p:txBody>
      </p:sp>
    </p:spTree>
    <p:extLst>
      <p:ext uri="{BB962C8B-B14F-4D97-AF65-F5344CB8AC3E}">
        <p14:creationId xmlns:p14="http://schemas.microsoft.com/office/powerpoint/2010/main" val="8199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4159</TotalTime>
  <Words>256</Words>
  <Application>Microsoft Office PowerPoint</Application>
  <PresentationFormat>ワイド画面</PresentationFormat>
  <Paragraphs>22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変圧器オイル温度予測 PoC（技術検証）報告書</vt:lpstr>
      <vt:lpstr>データからの示唆（EDA）</vt:lpstr>
      <vt:lpstr>アプローチとモデル構築設計</vt:lpstr>
      <vt:lpstr>タスク設計の意思決定</vt:lpstr>
      <vt:lpstr>安全志向AIの開発とマージン最適化</vt:lpstr>
      <vt:lpstr>最終結論とネクストステップ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崗崎 智大(is0767vs)</dc:creator>
  <cp:lastModifiedBy>崗崎 智大(is0767vs)</cp:lastModifiedBy>
  <cp:revision>3</cp:revision>
  <dcterms:created xsi:type="dcterms:W3CDTF">2026-04-28T07:40:30Z</dcterms:created>
  <dcterms:modified xsi:type="dcterms:W3CDTF">2026-05-01T05:00:18Z</dcterms:modified>
</cp:coreProperties>
</file>